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1C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02E6E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4114800" cy="4114800"/>
          </a:xfrm>
          <a:prstGeom prst="ellipse">
            <a:avLst/>
          </a:prstGeom>
          <a:solidFill>
            <a:srgbClr val="00BAF2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05156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BA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याद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Yaad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841248" y="34290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F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reorder layer for India's 13 million kirana stores.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41248" y="406908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one photo at checkout → a Hindi voice note brings the customer back when they run out.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41248" y="5074920"/>
            <a:ext cx="2505456" cy="457200"/>
          </a:xfrm>
          <a:prstGeom prst="roundRect">
            <a:avLst>
              <a:gd name="adj" fmla="val 20000"/>
            </a:avLst>
          </a:prstGeom>
          <a:solidFill>
            <a:srgbClr val="002E6E"/>
          </a:solidFill>
          <a:ln w="12700">
            <a:solidFill>
              <a:srgbClr val="00BA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5074920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Inference · Vision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547872" y="5074920"/>
            <a:ext cx="1161288" cy="457200"/>
          </a:xfrm>
          <a:prstGeom prst="roundRect">
            <a:avLst>
              <a:gd name="adj" fmla="val 20000"/>
            </a:avLst>
          </a:prstGeom>
          <a:solidFill>
            <a:srgbClr val="002E6E"/>
          </a:solidFill>
          <a:ln w="12700">
            <a:solidFill>
              <a:srgbClr val="00BA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7872" y="5074920"/>
            <a:ext cx="1161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30B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910328" y="5074920"/>
            <a:ext cx="1449324" cy="457200"/>
          </a:xfrm>
          <a:prstGeom prst="roundRect">
            <a:avLst>
              <a:gd name="adj" fmla="val 20000"/>
            </a:avLst>
          </a:prstGeom>
          <a:solidFill>
            <a:srgbClr val="002E6E"/>
          </a:solidFill>
          <a:ln w="12700">
            <a:solidFill>
              <a:srgbClr val="00BA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5074920"/>
            <a:ext cx="14493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Bulbul V3 TTS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60820" y="5074920"/>
            <a:ext cx="1929384" cy="457200"/>
          </a:xfrm>
          <a:prstGeom prst="roundRect">
            <a:avLst>
              <a:gd name="adj" fmla="val 20000"/>
            </a:avLst>
          </a:prstGeom>
          <a:solidFill>
            <a:srgbClr val="002E6E"/>
          </a:solidFill>
          <a:ln w="12700">
            <a:solidFill>
              <a:srgbClr val="00BA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60820" y="5074920"/>
            <a:ext cx="1929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Cloud API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41248" y="5989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prototype · Built end-to-end on Paytm + Sarvam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largest retail network on earth has no memory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813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kirana transaction today destroys its own data.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AF4FB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1B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121408"/>
            <a:ext cx="566928" cy="566928"/>
          </a:xfrm>
          <a:prstGeom prst="ellipse">
            <a:avLst/>
          </a:prstGeom>
          <a:solidFill>
            <a:srgbClr val="002E6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249424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7432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buys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3054096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Eggs + bread, ₹200</a:t>
            </a:r>
            <a:endParaRPr lang="en-US" sz="11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968" y="2542032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56432" y="18745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AF4FB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1B33">
                <a:alpha val="1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712464" y="2121408"/>
            <a:ext cx="566928" cy="566928"/>
          </a:xfrm>
          <a:prstGeom prst="ellipse">
            <a:avLst/>
          </a:prstGeom>
          <a:solidFill>
            <a:srgbClr val="002E6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2249424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712464" y="27432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Soundbox fires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3712464" y="3054096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 sau rupaye prapt”</a:t>
            </a:r>
            <a:endParaRPr lang="en-US" sz="11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542032"/>
            <a:ext cx="256032" cy="25603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364224" y="18745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AF4FB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1B33">
                <a:alpha val="16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6620256" y="2121408"/>
            <a:ext cx="566928" cy="566928"/>
          </a:xfrm>
          <a:prstGeom prst="ellipse">
            <a:avLst/>
          </a:prstGeom>
          <a:solidFill>
            <a:srgbClr val="002E6E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272" y="2249424"/>
            <a:ext cx="310896" cy="31089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620256" y="27432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leaves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6620256" y="3054096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kept</a:t>
            </a:r>
            <a:endParaRPr lang="en-US" sz="11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8552" y="2542032"/>
            <a:ext cx="256032" cy="256032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9272016" y="18745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AF4FB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1B33">
                <a:alpha val="16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9528048" y="2121408"/>
            <a:ext cx="566928" cy="566928"/>
          </a:xfrm>
          <a:prstGeom prst="ellipse">
            <a:avLst/>
          </a:prstGeom>
          <a:solidFill>
            <a:srgbClr val="E5484D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6064" y="2249424"/>
            <a:ext cx="310896" cy="31089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528048" y="27432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vanishes</a:t>
            </a:r>
            <a:endParaRPr lang="en-US" sz="1450" dirty="0"/>
          </a:p>
        </p:txBody>
      </p:sp>
      <p:sp>
        <p:nvSpPr>
          <p:cNvPr id="26" name="Text 17"/>
          <p:cNvSpPr/>
          <p:nvPr/>
        </p:nvSpPr>
        <p:spPr>
          <a:xfrm>
            <a:off x="9528048" y="3054096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memory of who / what</a:t>
            </a:r>
            <a:endParaRPr lang="en-US" sz="1150" dirty="0"/>
          </a:p>
        </p:txBody>
      </p:sp>
      <p:sp>
        <p:nvSpPr>
          <p:cNvPr id="27" name="Shape 18"/>
          <p:cNvSpPr/>
          <p:nvPr/>
        </p:nvSpPr>
        <p:spPr>
          <a:xfrm>
            <a:off x="548640" y="3886200"/>
            <a:ext cx="3593592" cy="1554480"/>
          </a:xfrm>
          <a:prstGeom prst="roundRect">
            <a:avLst>
              <a:gd name="adj" fmla="val 4706"/>
            </a:avLst>
          </a:prstGeom>
          <a:solidFill>
            <a:srgbClr val="002E6E"/>
          </a:solidFill>
          <a:ln/>
        </p:spPr>
      </p:sp>
      <p:sp>
        <p:nvSpPr>
          <p:cNvPr id="28" name="Text 19"/>
          <p:cNvSpPr/>
          <p:nvPr/>
        </p:nvSpPr>
        <p:spPr>
          <a:xfrm>
            <a:off x="822960" y="4069080"/>
            <a:ext cx="3044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BA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13M+</a:t>
            </a:r>
            <a:endParaRPr lang="en-US" sz="4000" dirty="0"/>
          </a:p>
        </p:txBody>
      </p:sp>
      <p:sp>
        <p:nvSpPr>
          <p:cNvPr id="29" name="Text 20"/>
          <p:cNvSpPr/>
          <p:nvPr/>
        </p:nvSpPr>
        <p:spPr>
          <a:xfrm>
            <a:off x="822960" y="4864608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kirana stores, almost none with a CRM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471416" y="3886200"/>
            <a:ext cx="3593592" cy="1554480"/>
          </a:xfrm>
          <a:prstGeom prst="roundRect">
            <a:avLst>
              <a:gd name="adj" fmla="val 4706"/>
            </a:avLst>
          </a:prstGeom>
          <a:solidFill>
            <a:srgbClr val="002E6E"/>
          </a:solidFill>
          <a:ln/>
        </p:spPr>
      </p:sp>
      <p:sp>
        <p:nvSpPr>
          <p:cNvPr id="31" name="Text 22"/>
          <p:cNvSpPr/>
          <p:nvPr/>
        </p:nvSpPr>
        <p:spPr>
          <a:xfrm>
            <a:off x="4745736" y="4069080"/>
            <a:ext cx="3044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BA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000" dirty="0"/>
          </a:p>
        </p:txBody>
      </p:sp>
      <p:sp>
        <p:nvSpPr>
          <p:cNvPr id="32" name="Text 23"/>
          <p:cNvSpPr/>
          <p:nvPr/>
        </p:nvSpPr>
        <p:spPr>
          <a:xfrm>
            <a:off x="4745736" y="4864608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of customer purchase history exist</a:t>
            </a:r>
            <a:endParaRPr lang="en-US" sz="1300" dirty="0"/>
          </a:p>
        </p:txBody>
      </p:sp>
      <p:sp>
        <p:nvSpPr>
          <p:cNvPr id="33" name="Shape 24"/>
          <p:cNvSpPr/>
          <p:nvPr/>
        </p:nvSpPr>
        <p:spPr>
          <a:xfrm>
            <a:off x="8394192" y="3886200"/>
            <a:ext cx="3593592" cy="1554480"/>
          </a:xfrm>
          <a:prstGeom prst="roundRect">
            <a:avLst>
              <a:gd name="adj" fmla="val 4706"/>
            </a:avLst>
          </a:prstGeom>
          <a:solidFill>
            <a:srgbClr val="002E6E"/>
          </a:solidFill>
          <a:ln/>
        </p:spPr>
      </p:sp>
      <p:sp>
        <p:nvSpPr>
          <p:cNvPr id="34" name="Text 25"/>
          <p:cNvSpPr/>
          <p:nvPr/>
        </p:nvSpPr>
        <p:spPr>
          <a:xfrm>
            <a:off x="8668512" y="4069080"/>
            <a:ext cx="3044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BA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~90%</a:t>
            </a:r>
            <a:endParaRPr lang="en-US" sz="4000" dirty="0"/>
          </a:p>
        </p:txBody>
      </p:sp>
      <p:sp>
        <p:nvSpPr>
          <p:cNvPr id="35" name="Text 26"/>
          <p:cNvSpPr/>
          <p:nvPr/>
        </p:nvSpPr>
        <p:spPr>
          <a:xfrm>
            <a:off x="8668512" y="4864608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Indian retail is still this informal</a:t>
            </a:r>
            <a:endParaRPr lang="en-US" sz="1300" dirty="0"/>
          </a:p>
        </p:txBody>
      </p:sp>
      <p:sp>
        <p:nvSpPr>
          <p:cNvPr id="36" name="Text 27"/>
          <p:cNvSpPr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history means no reorder reminders, no inventory insight, and no credit — the shopkeeper is invisible to the formal economy.</a:t>
            </a:r>
            <a:endParaRPr lang="en-US" sz="1350" dirty="0"/>
          </a:p>
        </p:txBody>
      </p:sp>
      <p:sp>
        <p:nvSpPr>
          <p:cNvPr id="37" name="Text 28"/>
          <p:cNvSpPr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B6B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YAAD</a:t>
            </a:r>
            <a:endParaRPr lang="en-US" sz="900" dirty="0"/>
          </a:p>
        </p:txBody>
      </p:sp>
      <p:sp>
        <p:nvSpPr>
          <p:cNvPr id="38" name="Text 29"/>
          <p:cNvSpPr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02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insight: sell the reorder, not the “we miss you”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14813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timed to consumption — not to silence — is a service the customer actually wants.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40680" cy="2743200"/>
          </a:xfrm>
          <a:prstGeom prst="roundRect">
            <a:avLst>
              <a:gd name="adj" fmla="val 2667"/>
            </a:avLst>
          </a:prstGeom>
          <a:solidFill>
            <a:srgbClr val="EAF4FB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5740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idea — at-risk / time-based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4846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 days since last visit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Message:  “We miss you, come back”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 like:  marketing pressure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may have no reason to return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55080" y="1874520"/>
            <a:ext cx="5440680" cy="2743200"/>
          </a:xfrm>
          <a:prstGeom prst="roundRect">
            <a:avLst>
              <a:gd name="adj" fmla="val 2667"/>
            </a:avLst>
          </a:prstGeom>
          <a:solidFill>
            <a:srgbClr val="002E6E"/>
          </a:solidFill>
          <a:ln/>
          <a:effectLst>
            <a:outerShdw sx="100000" sy="100000" kx="0" ky="0" algn="bl" rotWithShape="0" blurRad="114300" dist="38100" dir="5400000">
              <a:srgbClr val="0A1B33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29400" y="205740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Yaad — consumption-cycle based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75120" y="2514600"/>
            <a:ext cx="4846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 the item is about to run out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Message:  “Aapke ande khatam ho gaye honge”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 like:  a helpful service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genuinely needs the item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48640" y="4892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now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303520"/>
            <a:ext cx="3593592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5504688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5605272"/>
            <a:ext cx="256032" cy="25603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325880" y="5440680"/>
            <a:ext cx="2679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Soundbox is everywhere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325880" y="5733288"/>
            <a:ext cx="26791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20M+ merchants already glance at the phone at every payment.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4471416" y="5303520"/>
            <a:ext cx="3593592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72584" y="5504688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5605272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248656" y="5440680"/>
            <a:ext cx="2679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models got good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248656" y="5733288"/>
            <a:ext cx="26791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photo of products is now reliably parsed into line items.</a:t>
            </a:r>
            <a:endParaRPr lang="en-US" sz="1080" dirty="0"/>
          </a:p>
        </p:txBody>
      </p:sp>
      <p:sp>
        <p:nvSpPr>
          <p:cNvPr id="21" name="Shape 17"/>
          <p:cNvSpPr/>
          <p:nvPr/>
        </p:nvSpPr>
        <p:spPr>
          <a:xfrm>
            <a:off x="8394192" y="5303520"/>
            <a:ext cx="3593592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595360" y="5504688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5944" y="5605272"/>
            <a:ext cx="256032" cy="25603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171432" y="5440680"/>
            <a:ext cx="2679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Quick-commerce rails exist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9171432" y="5733288"/>
            <a:ext cx="26791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reorder can deeplink straight into fulfilment.</a:t>
            </a:r>
            <a:endParaRPr lang="en-US" sz="1080" dirty="0"/>
          </a:p>
        </p:txBody>
      </p:sp>
      <p:sp>
        <p:nvSpPr>
          <p:cNvPr id="26" name="Text 21"/>
          <p:cNvSpPr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B6B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YAAD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338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solution: one extra tap on a payment you already take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144475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soundbox is the trigger. The payment becomes the camera. No bill, no typing, no literacy needed.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1993392" cy="2788920"/>
          </a:xfrm>
          <a:prstGeom prst="roundRect">
            <a:avLst>
              <a:gd name="adj" fmla="val 3670"/>
            </a:avLst>
          </a:prstGeom>
          <a:solidFill>
            <a:srgbClr val="EAF4FB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16712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3D4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133856" y="2770632"/>
            <a:ext cx="822960" cy="822960"/>
          </a:xfrm>
          <a:prstGeom prst="ellipse">
            <a:avLst/>
          </a:prstGeom>
          <a:solidFill>
            <a:srgbClr val="002E6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6736" y="2953512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4944" y="3721608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lands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13232" y="4069080"/>
            <a:ext cx="16642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6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pays via Paytm QR; soundbox confirms ₹200.</a:t>
            </a:r>
            <a:endParaRPr lang="en-US" sz="106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3017520"/>
            <a:ext cx="237744" cy="2377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816352" y="2057400"/>
            <a:ext cx="1993392" cy="2788920"/>
          </a:xfrm>
          <a:prstGeom prst="roundRect">
            <a:avLst>
              <a:gd name="adj" fmla="val 3670"/>
            </a:avLst>
          </a:prstGeom>
          <a:solidFill>
            <a:srgbClr val="EAF4FB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980944" y="216712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3D4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Shape 9"/>
          <p:cNvSpPr/>
          <p:nvPr/>
        </p:nvSpPr>
        <p:spPr>
          <a:xfrm>
            <a:off x="3401568" y="2770632"/>
            <a:ext cx="822960" cy="822960"/>
          </a:xfrm>
          <a:prstGeom prst="ellipse">
            <a:avLst/>
          </a:prstGeom>
          <a:solidFill>
            <a:srgbClr val="002E6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448" y="2953512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962656" y="3721608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alert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2980944" y="4069080"/>
            <a:ext cx="16642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6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phone buzzes: “₹200 received — log items”.</a:t>
            </a:r>
            <a:endParaRPr lang="en-US" sz="106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017520"/>
            <a:ext cx="237744" cy="23774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084064" y="2057400"/>
            <a:ext cx="1993392" cy="2788920"/>
          </a:xfrm>
          <a:prstGeom prst="roundRect">
            <a:avLst>
              <a:gd name="adj" fmla="val 3670"/>
            </a:avLst>
          </a:prstGeom>
          <a:solidFill>
            <a:srgbClr val="EAF4FB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5248656" y="216712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3D4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Shape 14"/>
          <p:cNvSpPr/>
          <p:nvPr/>
        </p:nvSpPr>
        <p:spPr>
          <a:xfrm>
            <a:off x="5669280" y="2770632"/>
            <a:ext cx="822960" cy="822960"/>
          </a:xfrm>
          <a:prstGeom prst="ellipse">
            <a:avLst/>
          </a:prstGeom>
          <a:solidFill>
            <a:srgbClr val="002E6E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2953512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230368" y="3721608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the counter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5248656" y="4069080"/>
            <a:ext cx="16642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6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photo of the products being handed over.</a:t>
            </a:r>
            <a:endParaRPr lang="en-US" sz="106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5744" y="3017520"/>
            <a:ext cx="237744" cy="237744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7351776" y="2057400"/>
            <a:ext cx="1993392" cy="2788920"/>
          </a:xfrm>
          <a:prstGeom prst="roundRect">
            <a:avLst>
              <a:gd name="adj" fmla="val 3670"/>
            </a:avLst>
          </a:prstGeom>
          <a:solidFill>
            <a:srgbClr val="EAF4FB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7516368" y="216712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3D4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27" name="Shape 19"/>
          <p:cNvSpPr/>
          <p:nvPr/>
        </p:nvSpPr>
        <p:spPr>
          <a:xfrm>
            <a:off x="7936992" y="2770632"/>
            <a:ext cx="822960" cy="822960"/>
          </a:xfrm>
          <a:prstGeom prst="ellipse">
            <a:avLst/>
          </a:prstGeom>
          <a:solidFill>
            <a:srgbClr val="002E6E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9872" y="2953512"/>
            <a:ext cx="457200" cy="45720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498080" y="3721608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detected</a:t>
            </a:r>
            <a:endParaRPr lang="en-US" sz="1450" dirty="0"/>
          </a:p>
        </p:txBody>
      </p:sp>
      <p:sp>
        <p:nvSpPr>
          <p:cNvPr id="30" name="Text 21"/>
          <p:cNvSpPr/>
          <p:nvPr/>
        </p:nvSpPr>
        <p:spPr>
          <a:xfrm>
            <a:off x="7516368" y="4069080"/>
            <a:ext cx="16642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6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returns: eggs (14d), bread (5d) → logged to that payment.</a:t>
            </a:r>
            <a:endParaRPr lang="en-US" sz="106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3456" y="3017520"/>
            <a:ext cx="237744" cy="237744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9619488" y="2057400"/>
            <a:ext cx="1993392" cy="2788920"/>
          </a:xfrm>
          <a:prstGeom prst="roundRect">
            <a:avLst>
              <a:gd name="adj" fmla="val 3670"/>
            </a:avLst>
          </a:prstGeom>
          <a:solidFill>
            <a:srgbClr val="002E6E"/>
          </a:solidFill>
          <a:ln w="12700">
            <a:solidFill>
              <a:srgbClr val="002E6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B33">
                <a:alpha val="16000"/>
              </a:srgbClr>
            </a:outerShdw>
          </a:effectLst>
        </p:spPr>
      </p:sp>
      <p:sp>
        <p:nvSpPr>
          <p:cNvPr id="33" name="Text 23"/>
          <p:cNvSpPr/>
          <p:nvPr/>
        </p:nvSpPr>
        <p:spPr>
          <a:xfrm>
            <a:off x="9784080" y="216712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BA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000" dirty="0"/>
          </a:p>
        </p:txBody>
      </p:sp>
      <p:sp>
        <p:nvSpPr>
          <p:cNvPr id="34" name="Shape 24"/>
          <p:cNvSpPr/>
          <p:nvPr/>
        </p:nvSpPr>
        <p:spPr>
          <a:xfrm>
            <a:off x="10204704" y="2770632"/>
            <a:ext cx="822960" cy="822960"/>
          </a:xfrm>
          <a:prstGeom prst="ellipse">
            <a:avLst/>
          </a:prstGeom>
          <a:solidFill>
            <a:srgbClr val="00BAF2"/>
          </a:solidFill>
          <a:ln/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87584" y="2953512"/>
            <a:ext cx="457200" cy="45720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9765792" y="3721608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note fires</a:t>
            </a:r>
            <a:endParaRPr lang="en-US" sz="1450" dirty="0"/>
          </a:p>
        </p:txBody>
      </p:sp>
      <p:sp>
        <p:nvSpPr>
          <p:cNvPr id="37" name="Text 26"/>
          <p:cNvSpPr/>
          <p:nvPr/>
        </p:nvSpPr>
        <p:spPr>
          <a:xfrm>
            <a:off x="9784080" y="4069080"/>
            <a:ext cx="16642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60" dirty="0">
                <a:solidFill>
                  <a:srgbClr val="D7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day 13 a warm Hindi reminder reaches the customer.</a:t>
            </a:r>
            <a:endParaRPr lang="en-US" sz="1060" dirty="0"/>
          </a:p>
        </p:txBody>
      </p:sp>
      <p:sp>
        <p:nvSpPr>
          <p:cNvPr id="38" name="Shape 27"/>
          <p:cNvSpPr/>
          <p:nvPr/>
        </p:nvSpPr>
        <p:spPr>
          <a:xfrm>
            <a:off x="548640" y="51663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AF4FB"/>
          </a:solidFill>
          <a:ln w="15875">
            <a:solidFill>
              <a:srgbClr val="00BA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868680" y="5166360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behaviour changes by exactly one tap.  </a:t>
            </a:r>
            <a:pPr indent="0" marL="0">
              <a:buNone/>
            </a:pPr>
            <a:r>
              <a:rPr lang="en-US" sz="15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motion they already make when the soundbox rings — now it leaves a permanent, structured record.</a:t>
            </a:r>
            <a:endParaRPr lang="en-US" sz="1500" dirty="0"/>
          </a:p>
        </p:txBody>
      </p:sp>
      <p:sp>
        <p:nvSpPr>
          <p:cNvPr id="40" name="Text 29"/>
          <p:cNvSpPr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B6B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YAAD</a:t>
            </a:r>
            <a:endParaRPr lang="en-US" sz="900" dirty="0"/>
          </a:p>
        </p:txBody>
      </p:sp>
      <p:sp>
        <p:nvSpPr>
          <p:cNvPr id="41" name="Text 30"/>
          <p:cNvSpPr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1C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98755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flows over one Supabase data layer — 100% on Paytm + Sarvam.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2331720" cy="310896"/>
          </a:xfrm>
          <a:prstGeom prst="roundRect">
            <a:avLst>
              <a:gd name="adj" fmla="val 14706"/>
            </a:avLst>
          </a:prstGeom>
          <a:solidFill>
            <a:srgbClr val="002E6E"/>
          </a:solidFill>
          <a:ln w="12700">
            <a:solidFill>
              <a:srgbClr val="00BA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81328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1 · BILLING (real-time)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2395728" cy="914400"/>
          </a:xfrm>
          <a:prstGeom prst="roundRect">
            <a:avLst>
              <a:gd name="adj" fmla="val 7000"/>
            </a:avLst>
          </a:prstGeom>
          <a:solidFill>
            <a:srgbClr val="0B2A55"/>
          </a:solidFill>
          <a:ln w="15875">
            <a:solidFill>
              <a:srgbClr val="00BAF2"/>
            </a:solidFill>
            <a:prstDash val="solid"/>
          </a:ln>
          <a:effectLst>
            <a:outerShdw sx="100000" sy="100000" kx="0" ky="0" algn="bl" rotWithShape="0" blurRad="114300" dist="38100" dir="5400000">
              <a:srgbClr val="0A1B33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103120"/>
            <a:ext cx="502920" cy="502920"/>
          </a:xfrm>
          <a:prstGeom prst="ellipse">
            <a:avLst/>
          </a:prstGeom>
          <a:solidFill>
            <a:srgbClr val="00BAF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222199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98448" y="207568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app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298448" y="236829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products + pay ctx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94944" y="2523744"/>
            <a:ext cx="212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980944" y="2377440"/>
            <a:ext cx="429768" cy="0"/>
          </a:xfrm>
          <a:prstGeom prst="line">
            <a:avLst/>
          </a:prstGeom>
          <a:noFill/>
          <a:ln w="22225">
            <a:solidFill>
              <a:srgbClr val="00BAF2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447288" y="1920240"/>
            <a:ext cx="2395728" cy="914400"/>
          </a:xfrm>
          <a:prstGeom prst="roundRect">
            <a:avLst>
              <a:gd name="adj" fmla="val 7000"/>
            </a:avLst>
          </a:prstGeom>
          <a:solidFill>
            <a:srgbClr val="0B2A55"/>
          </a:solidFill>
          <a:ln w="15875">
            <a:solidFill>
              <a:srgbClr val="00BAF2"/>
            </a:solidFill>
            <a:prstDash val="solid"/>
          </a:ln>
          <a:effectLst>
            <a:outerShdw sx="100000" sy="100000" kx="0" ky="0" algn="bl" rotWithShape="0" blurRad="114300" dist="38100" dir="5400000">
              <a:srgbClr val="0A1B33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11880" y="2103120"/>
            <a:ext cx="502920" cy="502920"/>
          </a:xfrm>
          <a:prstGeom prst="ellipse">
            <a:avLst/>
          </a:prstGeom>
          <a:solidFill>
            <a:srgbClr val="00BAF2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2221992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197096" y="207568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detect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197096" y="236829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→ items JSON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3593592" y="2523744"/>
            <a:ext cx="212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Inference · Sonnet 4.6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5879592" y="2377440"/>
            <a:ext cx="429768" cy="0"/>
          </a:xfrm>
          <a:prstGeom prst="line">
            <a:avLst/>
          </a:prstGeom>
          <a:noFill/>
          <a:ln w="22225">
            <a:solidFill>
              <a:srgbClr val="00BAF2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6345936" y="1920240"/>
            <a:ext cx="2395728" cy="914400"/>
          </a:xfrm>
          <a:prstGeom prst="roundRect">
            <a:avLst>
              <a:gd name="adj" fmla="val 7000"/>
            </a:avLst>
          </a:prstGeom>
          <a:solidFill>
            <a:srgbClr val="0B2A55"/>
          </a:solidFill>
          <a:ln w="15875">
            <a:solidFill>
              <a:srgbClr val="00BAF2"/>
            </a:solidFill>
            <a:prstDash val="solid"/>
          </a:ln>
          <a:effectLst>
            <a:outerShdw sx="100000" sy="100000" kx="0" ky="0" algn="bl" rotWithShape="0" blurRad="114300" dist="38100" dir="5400000">
              <a:srgbClr val="0A1B33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510528" y="2103120"/>
            <a:ext cx="502920" cy="502920"/>
          </a:xfrm>
          <a:prstGeom prst="ellipse">
            <a:avLst/>
          </a:prstGeom>
          <a:solidFill>
            <a:srgbClr val="00BAF2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221992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095744" y="207568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/billing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7095744" y="236829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→ reorder clock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6492240" y="2523744"/>
            <a:ext cx="212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backend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8778240" y="2377440"/>
            <a:ext cx="429768" cy="0"/>
          </a:xfrm>
          <a:prstGeom prst="line">
            <a:avLst/>
          </a:prstGeom>
          <a:noFill/>
          <a:ln w="22225">
            <a:solidFill>
              <a:srgbClr val="00BAF2"/>
            </a:solidFill>
            <a:prstDash val="solid"/>
            <a:tailEnd type="triangle"/>
          </a:ln>
        </p:spPr>
      </p:sp>
      <p:sp>
        <p:nvSpPr>
          <p:cNvPr id="27" name="Shape 22"/>
          <p:cNvSpPr/>
          <p:nvPr/>
        </p:nvSpPr>
        <p:spPr>
          <a:xfrm>
            <a:off x="9244584" y="1920240"/>
            <a:ext cx="2395728" cy="914400"/>
          </a:xfrm>
          <a:prstGeom prst="roundRect">
            <a:avLst>
              <a:gd name="adj" fmla="val 7000"/>
            </a:avLst>
          </a:prstGeom>
          <a:solidFill>
            <a:srgbClr val="0B2A55"/>
          </a:solidFill>
          <a:ln w="15875">
            <a:solidFill>
              <a:srgbClr val="FF8A3D"/>
            </a:solidFill>
            <a:prstDash val="solid"/>
          </a:ln>
          <a:effectLst>
            <a:outerShdw sx="100000" sy="100000" kx="0" ky="0" algn="bl" rotWithShape="0" blurRad="114300" dist="38100" dir="5400000">
              <a:srgbClr val="0A1B33">
                <a:alpha val="16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9409176" y="2103120"/>
            <a:ext cx="502920" cy="502920"/>
          </a:xfrm>
          <a:prstGeom prst="ellipse">
            <a:avLst/>
          </a:prstGeom>
          <a:solidFill>
            <a:srgbClr val="FF8A3D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8048" y="2221992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994392" y="207568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9994392" y="236829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· items · txns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9390888" y="2523744"/>
            <a:ext cx="212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Storage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548640" y="3200400"/>
            <a:ext cx="11091672" cy="676656"/>
          </a:xfrm>
          <a:prstGeom prst="roundRect">
            <a:avLst>
              <a:gd name="adj" fmla="val 8108"/>
            </a:avLst>
          </a:prstGeom>
          <a:solidFill>
            <a:srgbClr val="0B2A55"/>
          </a:solidFill>
          <a:ln w="19050">
            <a:solidFill>
              <a:srgbClr val="FF8A3D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383280"/>
            <a:ext cx="310896" cy="31089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234440" y="3200400"/>
            <a:ext cx="1022299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LEDGER   </a:t>
            </a:r>
            <a:pPr indent="0" marL="0">
              <a:buNone/>
            </a:pPr>
            <a:r>
              <a:rPr lang="en-US" sz="1250" dirty="0">
                <a:solidFill>
                  <a:srgbClr val="D7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payment now carries line items, a customer, and a reorder clock — the asset everything else is built on.</a:t>
            </a:r>
            <a:endParaRPr lang="en-US" sz="1250" dirty="0"/>
          </a:p>
        </p:txBody>
      </p:sp>
      <p:sp>
        <p:nvSpPr>
          <p:cNvPr id="36" name="Shape 29"/>
          <p:cNvSpPr/>
          <p:nvPr/>
        </p:nvSpPr>
        <p:spPr>
          <a:xfrm>
            <a:off x="10442448" y="2852928"/>
            <a:ext cx="0" cy="329184"/>
          </a:xfrm>
          <a:prstGeom prst="line">
            <a:avLst/>
          </a:prstGeom>
          <a:noFill/>
          <a:ln w="22225">
            <a:solidFill>
              <a:srgbClr val="00BAF2"/>
            </a:solidFill>
            <a:prstDash val="solid"/>
            <a:tailEnd type="triangle"/>
          </a:ln>
        </p:spPr>
      </p:sp>
      <p:sp>
        <p:nvSpPr>
          <p:cNvPr id="37" name="Shape 30"/>
          <p:cNvSpPr/>
          <p:nvPr/>
        </p:nvSpPr>
        <p:spPr>
          <a:xfrm>
            <a:off x="1746504" y="3895344"/>
            <a:ext cx="0" cy="502920"/>
          </a:xfrm>
          <a:prstGeom prst="line">
            <a:avLst/>
          </a:prstGeom>
          <a:noFill/>
          <a:ln w="22225">
            <a:solidFill>
              <a:srgbClr val="00BAF2"/>
            </a:solidFill>
            <a:prstDash val="solid"/>
            <a:tailEnd type="triangle"/>
          </a:ln>
        </p:spPr>
      </p:sp>
      <p:sp>
        <p:nvSpPr>
          <p:cNvPr id="38" name="Shape 31"/>
          <p:cNvSpPr/>
          <p:nvPr/>
        </p:nvSpPr>
        <p:spPr>
          <a:xfrm>
            <a:off x="548640" y="4526280"/>
            <a:ext cx="2697480" cy="310896"/>
          </a:xfrm>
          <a:prstGeom prst="roundRect">
            <a:avLst>
              <a:gd name="adj" fmla="val 14706"/>
            </a:avLst>
          </a:prstGeom>
          <a:solidFill>
            <a:srgbClr val="002E6E"/>
          </a:solidFill>
          <a:ln w="12700">
            <a:solidFill>
              <a:srgbClr val="00BAF2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548640" y="4526280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2 · REMINDER (daily cron)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548640" y="4956048"/>
            <a:ext cx="2395728" cy="914400"/>
          </a:xfrm>
          <a:prstGeom prst="roundRect">
            <a:avLst>
              <a:gd name="adj" fmla="val 7000"/>
            </a:avLst>
          </a:prstGeom>
          <a:solidFill>
            <a:srgbClr val="0B2A55"/>
          </a:solidFill>
          <a:ln w="15875">
            <a:solidFill>
              <a:srgbClr val="00BAF2"/>
            </a:solidFill>
            <a:prstDash val="solid"/>
          </a:ln>
          <a:effectLst>
            <a:outerShdw sx="100000" sy="100000" kx="0" ky="0" algn="bl" rotWithShape="0" blurRad="114300" dist="38100" dir="5400000">
              <a:srgbClr val="0A1B33">
                <a:alpha val="16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713232" y="5138928"/>
            <a:ext cx="502920" cy="502920"/>
          </a:xfrm>
          <a:prstGeom prst="ellipse">
            <a:avLst/>
          </a:prstGeom>
          <a:solidFill>
            <a:srgbClr val="00BAF2"/>
          </a:solidFill>
          <a:ln/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" y="5257800"/>
            <a:ext cx="274320" cy="27432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1298448" y="5111496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250" dirty="0"/>
          </a:p>
        </p:txBody>
      </p:sp>
      <p:sp>
        <p:nvSpPr>
          <p:cNvPr id="44" name="Text 36"/>
          <p:cNvSpPr/>
          <p:nvPr/>
        </p:nvSpPr>
        <p:spPr>
          <a:xfrm>
            <a:off x="1298448" y="540410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past reorder_due</a:t>
            </a:r>
            <a:endParaRPr lang="en-US" sz="950" dirty="0"/>
          </a:p>
        </p:txBody>
      </p:sp>
      <p:sp>
        <p:nvSpPr>
          <p:cNvPr id="45" name="Text 37"/>
          <p:cNvSpPr/>
          <p:nvPr/>
        </p:nvSpPr>
        <p:spPr>
          <a:xfrm>
            <a:off x="694944" y="5559552"/>
            <a:ext cx="212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APScheduler</a:t>
            </a:r>
            <a:endParaRPr lang="en-US" sz="850" dirty="0"/>
          </a:p>
        </p:txBody>
      </p:sp>
      <p:sp>
        <p:nvSpPr>
          <p:cNvPr id="46" name="Shape 38"/>
          <p:cNvSpPr/>
          <p:nvPr/>
        </p:nvSpPr>
        <p:spPr>
          <a:xfrm>
            <a:off x="2980944" y="5413248"/>
            <a:ext cx="429768" cy="0"/>
          </a:xfrm>
          <a:prstGeom prst="line">
            <a:avLst/>
          </a:prstGeom>
          <a:noFill/>
          <a:ln w="22225">
            <a:solidFill>
              <a:srgbClr val="00BAF2"/>
            </a:solidFill>
            <a:prstDash val="solid"/>
            <a:tailEnd type="triangle"/>
          </a:ln>
        </p:spPr>
      </p:sp>
      <p:sp>
        <p:nvSpPr>
          <p:cNvPr id="47" name="Shape 39"/>
          <p:cNvSpPr/>
          <p:nvPr/>
        </p:nvSpPr>
        <p:spPr>
          <a:xfrm>
            <a:off x="3447288" y="4956048"/>
            <a:ext cx="2395728" cy="914400"/>
          </a:xfrm>
          <a:prstGeom prst="roundRect">
            <a:avLst>
              <a:gd name="adj" fmla="val 7000"/>
            </a:avLst>
          </a:prstGeom>
          <a:solidFill>
            <a:srgbClr val="0B2A55"/>
          </a:solidFill>
          <a:ln w="15875">
            <a:solidFill>
              <a:srgbClr val="00BAF2"/>
            </a:solidFill>
            <a:prstDash val="solid"/>
          </a:ln>
          <a:effectLst>
            <a:outerShdw sx="100000" sy="100000" kx="0" ky="0" algn="bl" rotWithShape="0" blurRad="114300" dist="38100" dir="5400000">
              <a:srgbClr val="0A1B33">
                <a:alpha val="16000"/>
              </a:srgbClr>
            </a:outerShdw>
          </a:effectLst>
        </p:spPr>
      </p:sp>
      <p:sp>
        <p:nvSpPr>
          <p:cNvPr id="48" name="Shape 40"/>
          <p:cNvSpPr/>
          <p:nvPr/>
        </p:nvSpPr>
        <p:spPr>
          <a:xfrm>
            <a:off x="3611880" y="5138928"/>
            <a:ext cx="502920" cy="502920"/>
          </a:xfrm>
          <a:prstGeom prst="ellipse">
            <a:avLst/>
          </a:prstGeom>
          <a:solidFill>
            <a:srgbClr val="00BAF2"/>
          </a:solidFill>
          <a:ln/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30752" y="5257800"/>
            <a:ext cx="274320" cy="274320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4197096" y="5111496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gen</a:t>
            </a:r>
            <a:endParaRPr lang="en-US" sz="1250" dirty="0"/>
          </a:p>
        </p:txBody>
      </p:sp>
      <p:sp>
        <p:nvSpPr>
          <p:cNvPr id="51" name="Text 42"/>
          <p:cNvSpPr/>
          <p:nvPr/>
        </p:nvSpPr>
        <p:spPr>
          <a:xfrm>
            <a:off x="4197096" y="540410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Hindi reminder</a:t>
            </a:r>
            <a:endParaRPr lang="en-US" sz="950" dirty="0"/>
          </a:p>
        </p:txBody>
      </p:sp>
      <p:sp>
        <p:nvSpPr>
          <p:cNvPr id="52" name="Text 43"/>
          <p:cNvSpPr/>
          <p:nvPr/>
        </p:nvSpPr>
        <p:spPr>
          <a:xfrm>
            <a:off x="3593592" y="5559552"/>
            <a:ext cx="212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30B</a:t>
            </a:r>
            <a:endParaRPr lang="en-US" sz="850" dirty="0"/>
          </a:p>
        </p:txBody>
      </p:sp>
      <p:sp>
        <p:nvSpPr>
          <p:cNvPr id="53" name="Shape 44"/>
          <p:cNvSpPr/>
          <p:nvPr/>
        </p:nvSpPr>
        <p:spPr>
          <a:xfrm>
            <a:off x="5879592" y="5413248"/>
            <a:ext cx="429768" cy="0"/>
          </a:xfrm>
          <a:prstGeom prst="line">
            <a:avLst/>
          </a:prstGeom>
          <a:noFill/>
          <a:ln w="22225">
            <a:solidFill>
              <a:srgbClr val="00BAF2"/>
            </a:solidFill>
            <a:prstDash val="solid"/>
            <a:tailEnd type="triangle"/>
          </a:ln>
        </p:spPr>
      </p:sp>
      <p:sp>
        <p:nvSpPr>
          <p:cNvPr id="54" name="Shape 45"/>
          <p:cNvSpPr/>
          <p:nvPr/>
        </p:nvSpPr>
        <p:spPr>
          <a:xfrm>
            <a:off x="6345936" y="4956048"/>
            <a:ext cx="2395728" cy="914400"/>
          </a:xfrm>
          <a:prstGeom prst="roundRect">
            <a:avLst>
              <a:gd name="adj" fmla="val 7000"/>
            </a:avLst>
          </a:prstGeom>
          <a:solidFill>
            <a:srgbClr val="0B2A55"/>
          </a:solidFill>
          <a:ln w="15875">
            <a:solidFill>
              <a:srgbClr val="00BAF2"/>
            </a:solidFill>
            <a:prstDash val="solid"/>
          </a:ln>
          <a:effectLst>
            <a:outerShdw sx="100000" sy="100000" kx="0" ky="0" algn="bl" rotWithShape="0" blurRad="114300" dist="38100" dir="5400000">
              <a:srgbClr val="0A1B33">
                <a:alpha val="16000"/>
              </a:srgbClr>
            </a:outerShdw>
          </a:effectLst>
        </p:spPr>
      </p:sp>
      <p:sp>
        <p:nvSpPr>
          <p:cNvPr id="55" name="Shape 46"/>
          <p:cNvSpPr/>
          <p:nvPr/>
        </p:nvSpPr>
        <p:spPr>
          <a:xfrm>
            <a:off x="6510528" y="5138928"/>
            <a:ext cx="502920" cy="502920"/>
          </a:xfrm>
          <a:prstGeom prst="ellipse">
            <a:avLst/>
          </a:prstGeom>
          <a:solidFill>
            <a:srgbClr val="00BAF2"/>
          </a:solidFill>
          <a:ln/>
        </p:spPr>
      </p:sp>
      <p:pic>
        <p:nvPicPr>
          <p:cNvPr id="5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5257800"/>
            <a:ext cx="274320" cy="274320"/>
          </a:xfrm>
          <a:prstGeom prst="rect">
            <a:avLst/>
          </a:prstGeom>
        </p:spPr>
      </p:pic>
      <p:sp>
        <p:nvSpPr>
          <p:cNvPr id="57" name="Text 47"/>
          <p:cNvSpPr/>
          <p:nvPr/>
        </p:nvSpPr>
        <p:spPr>
          <a:xfrm>
            <a:off x="7095744" y="5111496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synth</a:t>
            </a:r>
            <a:endParaRPr lang="en-US" sz="1250" dirty="0"/>
          </a:p>
        </p:txBody>
      </p:sp>
      <p:sp>
        <p:nvSpPr>
          <p:cNvPr id="58" name="Text 48"/>
          <p:cNvSpPr/>
          <p:nvPr/>
        </p:nvSpPr>
        <p:spPr>
          <a:xfrm>
            <a:off x="7095744" y="540410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natural audio</a:t>
            </a:r>
            <a:endParaRPr lang="en-US" sz="950" dirty="0"/>
          </a:p>
        </p:txBody>
      </p:sp>
      <p:sp>
        <p:nvSpPr>
          <p:cNvPr id="59" name="Text 49"/>
          <p:cNvSpPr/>
          <p:nvPr/>
        </p:nvSpPr>
        <p:spPr>
          <a:xfrm>
            <a:off x="6492240" y="5559552"/>
            <a:ext cx="212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Bulbul V3 TTS</a:t>
            </a:r>
            <a:endParaRPr lang="en-US" sz="850" dirty="0"/>
          </a:p>
        </p:txBody>
      </p:sp>
      <p:sp>
        <p:nvSpPr>
          <p:cNvPr id="60" name="Shape 50"/>
          <p:cNvSpPr/>
          <p:nvPr/>
        </p:nvSpPr>
        <p:spPr>
          <a:xfrm>
            <a:off x="8778240" y="5413248"/>
            <a:ext cx="429768" cy="0"/>
          </a:xfrm>
          <a:prstGeom prst="line">
            <a:avLst/>
          </a:prstGeom>
          <a:noFill/>
          <a:ln w="22225">
            <a:solidFill>
              <a:srgbClr val="00BAF2"/>
            </a:solidFill>
            <a:prstDash val="solid"/>
            <a:tailEnd type="triangle"/>
          </a:ln>
        </p:spPr>
      </p:sp>
      <p:sp>
        <p:nvSpPr>
          <p:cNvPr id="61" name="Shape 51"/>
          <p:cNvSpPr/>
          <p:nvPr/>
        </p:nvSpPr>
        <p:spPr>
          <a:xfrm>
            <a:off x="9244584" y="4956048"/>
            <a:ext cx="2395728" cy="914400"/>
          </a:xfrm>
          <a:prstGeom prst="roundRect">
            <a:avLst>
              <a:gd name="adj" fmla="val 7000"/>
            </a:avLst>
          </a:prstGeom>
          <a:solidFill>
            <a:srgbClr val="0B2A55"/>
          </a:solidFill>
          <a:ln w="15875">
            <a:solidFill>
              <a:srgbClr val="16B981"/>
            </a:solidFill>
            <a:prstDash val="solid"/>
          </a:ln>
          <a:effectLst>
            <a:outerShdw sx="100000" sy="100000" kx="0" ky="0" algn="bl" rotWithShape="0" blurRad="114300" dist="38100" dir="5400000">
              <a:srgbClr val="0A1B33">
                <a:alpha val="16000"/>
              </a:srgbClr>
            </a:outerShdw>
          </a:effectLst>
        </p:spPr>
      </p:sp>
      <p:sp>
        <p:nvSpPr>
          <p:cNvPr id="62" name="Shape 52"/>
          <p:cNvSpPr/>
          <p:nvPr/>
        </p:nvSpPr>
        <p:spPr>
          <a:xfrm>
            <a:off x="9409176" y="5138928"/>
            <a:ext cx="502920" cy="502920"/>
          </a:xfrm>
          <a:prstGeom prst="ellipse">
            <a:avLst/>
          </a:prstGeom>
          <a:solidFill>
            <a:srgbClr val="16B981"/>
          </a:solidFill>
          <a:ln/>
        </p:spPr>
      </p:sp>
      <p:pic>
        <p:nvPicPr>
          <p:cNvPr id="6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8048" y="5257800"/>
            <a:ext cx="274320" cy="274320"/>
          </a:xfrm>
          <a:prstGeom prst="rect">
            <a:avLst/>
          </a:prstGeom>
        </p:spPr>
      </p:pic>
      <p:sp>
        <p:nvSpPr>
          <p:cNvPr id="64" name="Text 53"/>
          <p:cNvSpPr/>
          <p:nvPr/>
        </p:nvSpPr>
        <p:spPr>
          <a:xfrm>
            <a:off x="9994392" y="5111496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250" dirty="0"/>
          </a:p>
        </p:txBody>
      </p:sp>
      <p:sp>
        <p:nvSpPr>
          <p:cNvPr id="65" name="Text 54"/>
          <p:cNvSpPr/>
          <p:nvPr/>
        </p:nvSpPr>
        <p:spPr>
          <a:xfrm>
            <a:off x="9994392" y="540410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note to customer</a:t>
            </a:r>
            <a:endParaRPr lang="en-US" sz="950" dirty="0"/>
          </a:p>
        </p:txBody>
      </p:sp>
      <p:sp>
        <p:nvSpPr>
          <p:cNvPr id="66" name="Text 55"/>
          <p:cNvSpPr/>
          <p:nvPr/>
        </p:nvSpPr>
        <p:spPr>
          <a:xfrm>
            <a:off x="9390888" y="5559552"/>
            <a:ext cx="212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6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Cloud API</a:t>
            </a:r>
            <a:endParaRPr lang="en-US" sz="850" dirty="0"/>
          </a:p>
        </p:txBody>
      </p:sp>
      <p:sp>
        <p:nvSpPr>
          <p:cNvPr id="67" name="Text 56"/>
          <p:cNvSpPr/>
          <p:nvPr/>
        </p:nvSpPr>
        <p:spPr>
          <a:xfrm>
            <a:off x="502920" y="605332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note: soundbox + WhatsApp send are mocked in-UI; vision, message and TTS calls are live.</a:t>
            </a:r>
            <a:endParaRPr lang="en-US" sz="1050" dirty="0"/>
          </a:p>
        </p:txBody>
      </p:sp>
      <p:sp>
        <p:nvSpPr>
          <p:cNvPr id="68" name="Text 57"/>
          <p:cNvSpPr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B6B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YAAD</a:t>
            </a:r>
            <a:endParaRPr lang="en-US" sz="900" dirty="0"/>
          </a:p>
        </p:txBody>
      </p:sp>
      <p:sp>
        <p:nvSpPr>
          <p:cNvPr id="69" name="Text 58"/>
          <p:cNvSpPr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338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02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reminder is the wedge. The data is the company.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1216152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photo writes one row to India's first informal-retail transaction ledger.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EAF4FB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574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22960" y="245059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₹200 received  ·  23 May, 3:14 PM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17920" y="187452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002E6E"/>
          </a:solidFill>
          <a:ln/>
          <a:effectLst>
            <a:outerShdw sx="100000" sy="100000" kx="0" ky="0" algn="bl" rotWithShape="0" blurRad="114300" dist="38100" dir="5400000">
              <a:srgbClr val="0A1B33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0574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YAAD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92240" y="245059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₹200  ·  Eggs (12), Bread (1), Milk (1L)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3593592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1B33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3703320"/>
            <a:ext cx="603504" cy="603504"/>
          </a:xfrm>
          <a:prstGeom prst="ellipse">
            <a:avLst/>
          </a:prstGeom>
          <a:solidFill>
            <a:srgbClr val="FF8A3D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3849624"/>
            <a:ext cx="310896" cy="31089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22960" y="4462272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underwriting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22960" y="4864608"/>
            <a:ext cx="3044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Verified, itemised revenue becomes proof banks can lend against.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471416" y="3474720"/>
            <a:ext cx="3593592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1B33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45736" y="3703320"/>
            <a:ext cx="603504" cy="603504"/>
          </a:xfrm>
          <a:prstGeom prst="ellipse">
            <a:avLst/>
          </a:prstGeom>
          <a:solidFill>
            <a:srgbClr val="FF8A3D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3849624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745736" y="4462272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intelligence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745736" y="4864608"/>
            <a:ext cx="3044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velocity: what sells, what's slow, what to restock.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8394192" y="3474720"/>
            <a:ext cx="3593592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1B33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668512" y="3703320"/>
            <a:ext cx="603504" cy="603504"/>
          </a:xfrm>
          <a:prstGeom prst="ellipse">
            <a:avLst/>
          </a:prstGeom>
          <a:solidFill>
            <a:srgbClr val="FF8A3D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16" y="3849624"/>
            <a:ext cx="310896" cy="31089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668512" y="4462272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graph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8668512" y="4864608"/>
            <a:ext cx="3044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Per-customer purchase history — the CRM kiranas never had.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voice-note reorder is just the first product built on top of this layer.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B6B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YAAD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is infrastructure, not an app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216152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the informal market once, and an entire ecosystem snaps on top — Paytm is positioned to own all of it.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3429000" y="2628900"/>
            <a:ext cx="2651760" cy="1531620"/>
          </a:xfrm>
          <a:prstGeom prst="line">
            <a:avLst/>
          </a:prstGeom>
          <a:noFill/>
          <a:ln w="15875">
            <a:solidFill>
              <a:srgbClr val="C3D4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4165092"/>
            <a:ext cx="2651760" cy="-4572"/>
          </a:xfrm>
          <a:prstGeom prst="line">
            <a:avLst/>
          </a:prstGeom>
          <a:noFill/>
          <a:ln w="15875">
            <a:solidFill>
              <a:srgbClr val="C3D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29000" y="5701284"/>
            <a:ext cx="2651760" cy="-1540764"/>
          </a:xfrm>
          <a:prstGeom prst="line">
            <a:avLst/>
          </a:prstGeom>
          <a:noFill/>
          <a:ln w="15875">
            <a:solidFill>
              <a:srgbClr val="C3D4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80760" y="2628900"/>
            <a:ext cx="2651760" cy="1531620"/>
          </a:xfrm>
          <a:prstGeom prst="line">
            <a:avLst/>
          </a:prstGeom>
          <a:noFill/>
          <a:ln w="15875">
            <a:solidFill>
              <a:srgbClr val="C3D4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80760" y="4165092"/>
            <a:ext cx="2651760" cy="-4572"/>
          </a:xfrm>
          <a:prstGeom prst="line">
            <a:avLst/>
          </a:prstGeom>
          <a:noFill/>
          <a:ln w="15875">
            <a:solidFill>
              <a:srgbClr val="C3D4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80760" y="5701284"/>
            <a:ext cx="2651760" cy="-1540764"/>
          </a:xfrm>
          <a:prstGeom prst="line">
            <a:avLst/>
          </a:prstGeom>
          <a:noFill/>
          <a:ln w="15875">
            <a:solidFill>
              <a:srgbClr val="C3D4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74920" y="3154680"/>
            <a:ext cx="2011680" cy="2011680"/>
          </a:xfrm>
          <a:prstGeom prst="ellipse">
            <a:avLst/>
          </a:prstGeom>
          <a:solidFill>
            <a:srgbClr val="002E6E"/>
          </a:solidFill>
          <a:ln w="25400">
            <a:solidFill>
              <a:srgbClr val="00BAF2"/>
            </a:solidFill>
            <a:prstDash val="solid"/>
          </a:ln>
          <a:effectLst>
            <a:outerShdw sx="100000" sy="100000" kx="0" ky="0" algn="bl" rotWithShape="0" blurRad="114300" dist="38100" dir="5400000">
              <a:srgbClr val="0A1B33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74920" y="315468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Yaad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1965960"/>
            <a:ext cx="2880360" cy="1325880"/>
          </a:xfrm>
          <a:prstGeom prst="roundRect">
            <a:avLst>
              <a:gd name="adj" fmla="val 5517"/>
            </a:avLst>
          </a:prstGeom>
          <a:solidFill>
            <a:srgbClr val="EAF4FB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1B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167128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2267712"/>
            <a:ext cx="256032" cy="25603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98448" y="2167128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lift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49808" y="2679192"/>
            <a:ext cx="2496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relevant reorders → more QR transactions on Paytm.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548640" y="3502152"/>
            <a:ext cx="2880360" cy="1325880"/>
          </a:xfrm>
          <a:prstGeom prst="roundRect">
            <a:avLst>
              <a:gd name="adj" fmla="val 5517"/>
            </a:avLst>
          </a:prstGeom>
          <a:solidFill>
            <a:srgbClr val="EAF4FB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1B33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31520" y="37033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3803904"/>
            <a:ext cx="256032" cy="25603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298448" y="370332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SaaS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749808" y="4215384"/>
            <a:ext cx="2496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inventory &amp; customer CRM as a subscription.</a:t>
            </a:r>
            <a:endParaRPr lang="en-US" sz="1020" dirty="0"/>
          </a:p>
        </p:txBody>
      </p:sp>
      <p:sp>
        <p:nvSpPr>
          <p:cNvPr id="22" name="Shape 18"/>
          <p:cNvSpPr/>
          <p:nvPr/>
        </p:nvSpPr>
        <p:spPr>
          <a:xfrm>
            <a:off x="548640" y="5038344"/>
            <a:ext cx="2880360" cy="1325880"/>
          </a:xfrm>
          <a:prstGeom prst="roundRect">
            <a:avLst>
              <a:gd name="adj" fmla="val 5517"/>
            </a:avLst>
          </a:prstGeom>
          <a:solidFill>
            <a:srgbClr val="EAF4FB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1B33">
                <a:alpha val="1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731520" y="5239512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5340096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298448" y="523951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749808" y="5751576"/>
            <a:ext cx="2496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Voice-note channel for offers, festivals, restock nudges.</a:t>
            </a:r>
            <a:endParaRPr lang="en-US" sz="1020" dirty="0"/>
          </a:p>
        </p:txBody>
      </p:sp>
      <p:sp>
        <p:nvSpPr>
          <p:cNvPr id="27" name="Shape 22"/>
          <p:cNvSpPr/>
          <p:nvPr/>
        </p:nvSpPr>
        <p:spPr>
          <a:xfrm>
            <a:off x="8732520" y="1965960"/>
            <a:ext cx="2880360" cy="1325880"/>
          </a:xfrm>
          <a:prstGeom prst="roundRect">
            <a:avLst>
              <a:gd name="adj" fmla="val 5517"/>
            </a:avLst>
          </a:prstGeom>
          <a:solidFill>
            <a:srgbClr val="EAF4FB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1B33">
                <a:alpha val="16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8915400" y="2167128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5984" y="2267712"/>
            <a:ext cx="256032" cy="25603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482328" y="2167128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commerce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8933688" y="2679192"/>
            <a:ext cx="2496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deeplinks into Paytm-powered fulfilment.</a:t>
            </a:r>
            <a:endParaRPr lang="en-US" sz="1020" dirty="0"/>
          </a:p>
        </p:txBody>
      </p:sp>
      <p:sp>
        <p:nvSpPr>
          <p:cNvPr id="32" name="Shape 26"/>
          <p:cNvSpPr/>
          <p:nvPr/>
        </p:nvSpPr>
        <p:spPr>
          <a:xfrm>
            <a:off x="8732520" y="3502152"/>
            <a:ext cx="2880360" cy="1325880"/>
          </a:xfrm>
          <a:prstGeom prst="roundRect">
            <a:avLst>
              <a:gd name="adj" fmla="val 5517"/>
            </a:avLst>
          </a:prstGeom>
          <a:solidFill>
            <a:srgbClr val="EAF4FB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1B33">
                <a:alpha val="16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8915400" y="37033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5984" y="3803904"/>
            <a:ext cx="256032" cy="25603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482328" y="370332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lending</a:t>
            </a:r>
            <a:endParaRPr lang="en-US" sz="1350" dirty="0"/>
          </a:p>
        </p:txBody>
      </p:sp>
      <p:sp>
        <p:nvSpPr>
          <p:cNvPr id="36" name="Text 29"/>
          <p:cNvSpPr/>
          <p:nvPr/>
        </p:nvSpPr>
        <p:spPr>
          <a:xfrm>
            <a:off x="8933688" y="4215384"/>
            <a:ext cx="2496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Itemised revenue underwrites working-capital loans.</a:t>
            </a:r>
            <a:endParaRPr lang="en-US" sz="1020" dirty="0"/>
          </a:p>
        </p:txBody>
      </p:sp>
      <p:sp>
        <p:nvSpPr>
          <p:cNvPr id="37" name="Shape 30"/>
          <p:cNvSpPr/>
          <p:nvPr/>
        </p:nvSpPr>
        <p:spPr>
          <a:xfrm>
            <a:off x="8732520" y="5038344"/>
            <a:ext cx="2880360" cy="1325880"/>
          </a:xfrm>
          <a:prstGeom prst="roundRect">
            <a:avLst>
              <a:gd name="adj" fmla="val 5517"/>
            </a:avLst>
          </a:prstGeom>
          <a:solidFill>
            <a:srgbClr val="EAF4FB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1B33">
                <a:alpha val="16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8915400" y="5239512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5984" y="5340096"/>
            <a:ext cx="256032" cy="256032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9482328" y="523951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/ FMCG</a:t>
            </a:r>
            <a:endParaRPr lang="en-US" sz="1350" dirty="0"/>
          </a:p>
        </p:txBody>
      </p:sp>
      <p:sp>
        <p:nvSpPr>
          <p:cNvPr id="41" name="Text 33"/>
          <p:cNvSpPr/>
          <p:nvPr/>
        </p:nvSpPr>
        <p:spPr>
          <a:xfrm>
            <a:off x="8933688" y="5751576"/>
            <a:ext cx="2496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demand data sold back to brands &amp; distributors.</a:t>
            </a:r>
            <a:endParaRPr lang="en-US" sz="1020" dirty="0"/>
          </a:p>
        </p:txBody>
      </p:sp>
      <p:sp>
        <p:nvSpPr>
          <p:cNvPr id="42" name="Text 34"/>
          <p:cNvSpPr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B6B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YAAD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1C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840480"/>
            <a:ext cx="5486400" cy="5486400"/>
          </a:xfrm>
          <a:prstGeom prst="ellipse">
            <a:avLst/>
          </a:prstGeom>
          <a:solidFill>
            <a:srgbClr val="002E6E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2194560"/>
            <a:ext cx="5029200" cy="5029200"/>
          </a:xfrm>
          <a:prstGeom prst="ellipse">
            <a:avLst/>
          </a:prstGeom>
          <a:solidFill>
            <a:srgbClr val="00BAF2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6400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Yaad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04672" y="155448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13 million invisible stores into a structured, addressable network — starting with a voice note.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04672" y="2514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A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prototype shows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04672" y="2971800"/>
            <a:ext cx="2432304" cy="1554480"/>
          </a:xfrm>
          <a:prstGeom prst="roundRect">
            <a:avLst>
              <a:gd name="adj" fmla="val 4706"/>
            </a:avLst>
          </a:prstGeom>
          <a:solidFill>
            <a:srgbClr val="0B2A55"/>
          </a:solidFill>
          <a:ln w="12700">
            <a:solidFill>
              <a:srgbClr val="00BA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3172968"/>
            <a:ext cx="502920" cy="502920"/>
          </a:xfrm>
          <a:prstGeom prst="ellipse">
            <a:avLst/>
          </a:prstGeom>
          <a:solidFill>
            <a:srgbClr val="00BAF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32918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05840" y="3749040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→ items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005840" y="4096512"/>
            <a:ext cx="2066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vision call via Paytm Inference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511296" y="2971800"/>
            <a:ext cx="2432304" cy="1554480"/>
          </a:xfrm>
          <a:prstGeom prst="roundRect">
            <a:avLst>
              <a:gd name="adj" fmla="val 4706"/>
            </a:avLst>
          </a:prstGeom>
          <a:solidFill>
            <a:srgbClr val="0B2A55"/>
          </a:solidFill>
          <a:ln w="12700">
            <a:solidFill>
              <a:srgbClr val="00BA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712464" y="3172968"/>
            <a:ext cx="502920" cy="502920"/>
          </a:xfrm>
          <a:prstGeom prst="ellipse">
            <a:avLst/>
          </a:prstGeom>
          <a:solidFill>
            <a:srgbClr val="00BAF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336" y="329184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12464" y="3749040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→ Hindi message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3712464" y="4096512"/>
            <a:ext cx="2066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Sarvam 30B generation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217920" y="2971800"/>
            <a:ext cx="2432304" cy="1554480"/>
          </a:xfrm>
          <a:prstGeom prst="roundRect">
            <a:avLst>
              <a:gd name="adj" fmla="val 4706"/>
            </a:avLst>
          </a:prstGeom>
          <a:solidFill>
            <a:srgbClr val="0B2A55"/>
          </a:solidFill>
          <a:ln w="12700">
            <a:solidFill>
              <a:srgbClr val="00BAF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19088" y="3172968"/>
            <a:ext cx="502920" cy="502920"/>
          </a:xfrm>
          <a:prstGeom prst="ellipse">
            <a:avLst/>
          </a:prstGeom>
          <a:solidFill>
            <a:srgbClr val="00BAF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329184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19088" y="3749040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→ voice note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419088" y="4096512"/>
            <a:ext cx="2066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Bulbul V3 audio in a WhatsApp-style bubble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8924544" y="2971800"/>
            <a:ext cx="2432304" cy="1554480"/>
          </a:xfrm>
          <a:prstGeom prst="roundRect">
            <a:avLst>
              <a:gd name="adj" fmla="val 4706"/>
            </a:avLst>
          </a:prstGeom>
          <a:solidFill>
            <a:srgbClr val="0B2A55"/>
          </a:solidFill>
          <a:ln w="12700">
            <a:solidFill>
              <a:srgbClr val="00BAF2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125712" y="3172968"/>
            <a:ext cx="502920" cy="502920"/>
          </a:xfrm>
          <a:prstGeom prst="ellipse">
            <a:avLst/>
          </a:prstGeom>
          <a:solidFill>
            <a:srgbClr val="00BAF2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4584" y="329184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25712" y="3749040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dashboard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9125712" y="4096512"/>
            <a:ext cx="2066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timeline per customer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804672" y="4892040"/>
            <a:ext cx="10561320" cy="1051560"/>
          </a:xfrm>
          <a:prstGeom prst="roundRect">
            <a:avLst>
              <a:gd name="adj" fmla="val 6957"/>
            </a:avLst>
          </a:prstGeom>
          <a:solidFill>
            <a:srgbClr val="002E6E"/>
          </a:solidFill>
          <a:ln w="15875">
            <a:solidFill>
              <a:srgbClr val="FF8A3D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1097280" y="489204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100% on Paytm Inference + Sarvam.   </a:t>
            </a:r>
            <a:pPr indent="0" marL="0">
              <a:buNone/>
            </a:pPr>
            <a:r>
              <a:rPr lang="en-US" sz="150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third-party AI. The reminder is v1 — the structured ledger underneath is the platform.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804672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याद — when the customer runs out, the store remembers.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Yaad — kirana reorder infrastructure</dc:title>
  <dc:subject>PptxGenJS Presentation</dc:subject>
  <dc:creator>Yaad</dc:creator>
  <cp:lastModifiedBy>Yaad</cp:lastModifiedBy>
  <cp:revision>1</cp:revision>
  <dcterms:created xsi:type="dcterms:W3CDTF">2026-06-06T10:16:40Z</dcterms:created>
  <dcterms:modified xsi:type="dcterms:W3CDTF">2026-06-06T10:16:40Z</dcterms:modified>
</cp:coreProperties>
</file>